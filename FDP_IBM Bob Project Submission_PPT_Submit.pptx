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77" r:id="rId12"/>
    <p:sldId id="290" r:id="rId13"/>
    <p:sldId id="292" r:id="rId14"/>
    <p:sldId id="286" r:id="rId15"/>
    <p:sldId id="287" r:id="rId16"/>
    <p:sldId id="280" r:id="rId17"/>
    <p:sldId id="288" r:id="rId18"/>
    <p:sldId id="289" r:id="rId19"/>
    <p:sldId id="27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del">
          <ac:chgData name="Aman Shrivastava" userId="S::ashrivastava@edunetfoundation.org::c21995ab-fa37-4cde-b5a3-dec0fb9e9a10" providerId="AD" clId="Web-{088AD18C-7811-B1E2-9ED5-57A1A5542DF6}" dt="2026-06-19T06:20:45.745" v="122"/>
          <ac:spMkLst>
            <pc:docMk/>
            <pc:sldMk cId="0" sldId="257"/>
            <ac:spMk id="2" creationId="{20FC1D0F-7927-693D-B3A8-BEEE7BBB2D18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02.481" v="214"/>
          <ac:spMkLst>
            <pc:docMk/>
            <pc:sldMk cId="0" sldId="257"/>
            <ac:spMk id="5" creationId="{8CF059D9-DCD7-9C47-2E79-C5986ADDD187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33.481" v="246"/>
          <ac:spMkLst>
            <pc:docMk/>
            <pc:sldMk cId="0" sldId="257"/>
            <ac:spMk id="6" creationId="{351EC9F7-1007-D29E-338A-EEE56747ED3E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5:23.585" v="76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del mod">
          <ac:chgData name="Aman Shrivastava" userId="S::ashrivastava@edunetfoundation.org::c21995ab-fa37-4cde-b5a3-dec0fb9e9a10" providerId="AD" clId="Web-{088AD18C-7811-B1E2-9ED5-57A1A5542DF6}" dt="2026-06-19T06:18:45.275" v="79"/>
          <ac:picMkLst>
            <pc:docMk/>
            <pc:sldMk cId="2115484872" sldId="277"/>
            <ac:picMk id="2" creationId="{E9DB3200-E2EC-A058-B02D-E1510060484E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8:46.790" v="80"/>
          <ac:picMkLst>
            <pc:docMk/>
            <pc:sldMk cId="2115484872" sldId="277"/>
            <ac:picMk id="3" creationId="{03614573-D426-9337-9C0E-5207B9123920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  <pc:inkChg chg="add del">
          <ac:chgData name="Aman Shrivastava" userId="S::ashrivastava@edunetfoundation.org::c21995ab-fa37-4cde-b5a3-dec0fb9e9a10" providerId="AD" clId="Web-{088AD18C-7811-B1E2-9ED5-57A1A5542DF6}" dt="2026-06-19T05:51:50.431" v="39"/>
          <ac:inkMkLst>
            <pc:docMk/>
            <pc:sldMk cId="2115484872" sldId="277"/>
            <ac:inkMk id="4" creationId="{339FEE3F-7BE8-8E7A-6A09-16BCB25AB1E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4.134" v="45"/>
          <ac:inkMkLst>
            <pc:docMk/>
            <pc:sldMk cId="2115484872" sldId="277"/>
            <ac:inkMk id="6" creationId="{A89955C5-BB88-2BD8-C3DC-B49AE1FA753F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634" v="44"/>
          <ac:inkMkLst>
            <pc:docMk/>
            <pc:sldMk cId="2115484872" sldId="277"/>
            <ac:inkMk id="7" creationId="{215511CE-958D-7751-754D-0682F725A052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275" v="43"/>
          <ac:inkMkLst>
            <pc:docMk/>
            <pc:sldMk cId="2115484872" sldId="277"/>
            <ac:inkMk id="8" creationId="{54C6AFEC-9CCE-EC84-7FBE-A4154B140DC8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1.150" v="81"/>
          <ac:inkMkLst>
            <pc:docMk/>
            <pc:sldMk cId="2115484872" sldId="277"/>
            <ac:inkMk id="9" creationId="{4288BD03-6EE6-7ADE-E088-246DCEBA2D0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3.494" v="82"/>
          <ac:inkMkLst>
            <pc:docMk/>
            <pc:sldMk cId="2115484872" sldId="277"/>
            <ac:inkMk id="10" creationId="{64412BAE-99D1-29B6-F8E0-FFAEAC5EF7C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06:19.409" v="69"/>
          <ac:inkMkLst>
            <pc:docMk/>
            <pc:sldMk cId="2115484872" sldId="277"/>
            <ac:inkMk id="11" creationId="{75A70817-4D26-F5D5-7B43-3BF146ADCFA3}"/>
          </ac:inkMkLst>
        </pc:ink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del">
          <ac:chgData name="Aman Shrivastava" userId="S::ashrivastava@edunetfoundation.org::c21995ab-fa37-4cde-b5a3-dec0fb9e9a10" providerId="AD" clId="Web-{088AD18C-7811-B1E2-9ED5-57A1A5542DF6}" dt="2026-06-19T06:09:56.270" v="70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">
        <pc:chgData name="Aman Shrivastava" userId="S::ashrivastava@edunetfoundation.org::c21995ab-fa37-4cde-b5a3-dec0fb9e9a10" providerId="AD" clId="Web-{088AD18C-7811-B1E2-9ED5-57A1A5542DF6}" dt="2026-06-19T06:28:32.545" v="260"/>
        <pc:sldMkLst>
          <pc:docMk/>
          <pc:sldMk cId="4218467252" sldId="284"/>
        </pc:sldMkLst>
        <pc:inkChg chg="add">
          <ac:chgData name="Aman Shrivastava" userId="S::ashrivastava@edunetfoundation.org::c21995ab-fa37-4cde-b5a3-dec0fb9e9a10" providerId="AD" clId="Web-{088AD18C-7811-B1E2-9ED5-57A1A5542DF6}" dt="2026-06-19T06:02:12.187" v="49"/>
          <ac:inkMkLst>
            <pc:docMk/>
            <pc:sldMk cId="4218467252" sldId="284"/>
            <ac:inkMk id="4" creationId="{022D0B6B-16B4-5876-55B2-3ACEECC98828}"/>
          </ac:inkMkLst>
        </pc:ink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  <pc:spChg chg="add del">
          <ac:chgData name="Aman Shrivastava" userId="S::ashrivastava@edunetfoundation.org::c21995ab-fa37-4cde-b5a3-dec0fb9e9a10" providerId="AD" clId="Web-{088AD18C-7811-B1E2-9ED5-57A1A5542DF6}" dt="2026-06-19T05:52:06.978" v="46"/>
          <ac:spMkLst>
            <pc:docMk/>
            <pc:sldMk cId="2605851928" sldId="287"/>
            <ac:spMk id="2" creationId="{22776EB6-691D-8F86-ABF4-9D27BDFB77FE}"/>
          </ac:spMkLst>
        </pc:spChg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del">
          <ac:chgData name="Aman Shrivastava" userId="S::ashrivastava@edunetfoundation.org::c21995ab-fa37-4cde-b5a3-dec0fb9e9a10" providerId="AD" clId="Web-{088AD18C-7811-B1E2-9ED5-57A1A5542DF6}" dt="2026-06-19T05:41:05.877" v="1"/>
          <ac:spMkLst>
            <pc:docMk/>
            <pc:sldMk cId="1229047658" sldId="288"/>
            <ac:spMk id="2" creationId="{DF28AC7D-07EA-A945-E96E-15036A9DB45D}"/>
          </ac:spMkLst>
        </pc:spChg>
        <pc:spChg chg="del">
          <ac:chgData name="Aman Shrivastava" userId="S::ashrivastava@edunetfoundation.org::c21995ab-fa37-4cde-b5a3-dec0fb9e9a10" providerId="AD" clId="Web-{088AD18C-7811-B1E2-9ED5-57A1A5542DF6}" dt="2026-06-19T05:41:09.174" v="2"/>
          <ac:spMkLst>
            <pc:docMk/>
            <pc:sldMk cId="1229047658" sldId="288"/>
            <ac:spMk id="3" creationId="{6E0CE283-F2CE-BB1E-A169-02FBC85A94BA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5:48:40.427" v="14" actId="14100"/>
          <ac:picMkLst>
            <pc:docMk/>
            <pc:sldMk cId="1229047658" sldId="288"/>
            <ac:picMk id="4" creationId="{AD88C341-1F2F-9B6F-593F-2917E7E23DCB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5:48:32.318" v="12" actId="14100"/>
          <ac:picMkLst>
            <pc:docMk/>
            <pc:sldMk cId="1229047658" sldId="288"/>
            <ac:picMk id="5" creationId="{78BE1AD4-7C9B-6215-1BD9-9999437CD770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del">
          <ac:chgData name="Aswini Kumar Motapothula" userId="S::aswinikumar@edunetfoundation.org::8849ae8d-bc89-4217-899c-9440ffcae5bb" providerId="AD" clId="Web-{0037A25B-DA5D-A37C-3B36-7F0977405ABF}" dt="2026-06-19T05:52:55.794" v="1"/>
          <ac:spMkLst>
            <pc:docMk/>
            <pc:sldMk cId="1229047658" sldId="288"/>
            <ac:spMk id="2" creationId="{AEE9AF93-8291-7FBB-4169-9C96AABF542F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  <pc:picChg chg="mod">
          <ac:chgData name="Aswini Kumar Motapothula" userId="S::aswinikumar@edunetfoundation.org::8849ae8d-bc89-4217-899c-9440ffcae5bb" providerId="AD" clId="Web-{0037A25B-DA5D-A37C-3B36-7F0977405ABF}" dt="2026-06-19T05:54:10.419" v="46" actId="1076"/>
          <ac:picMkLst>
            <pc:docMk/>
            <pc:sldMk cId="1229047658" sldId="288"/>
            <ac:picMk id="4" creationId="{AD88C341-1F2F-9B6F-593F-2917E7E23DCB}"/>
          </ac:picMkLst>
        </pc:picChg>
        <pc:picChg chg="del mod">
          <ac:chgData name="Aswini Kumar Motapothula" userId="S::aswinikumar@edunetfoundation.org::8849ae8d-bc89-4217-899c-9440ffcae5bb" providerId="AD" clId="Web-{0037A25B-DA5D-A37C-3B36-7F0977405ABF}" dt="2026-06-19T05:54:19.904" v="49"/>
          <ac:picMkLst>
            <pc:docMk/>
            <pc:sldMk cId="1229047658" sldId="288"/>
            <ac:picMk id="5" creationId="{78BE1AD4-7C9B-6215-1BD9-9999437CD770}"/>
          </ac:picMkLst>
        </pc:pic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del">
          <ac:chgData name="Aswini Kumar Motapothula" userId="S::aswinikumar@edunetfoundation.org::8849ae8d-bc89-4217-899c-9440ffcae5bb" providerId="AD" clId="Web-{0037A25B-DA5D-A37C-3B36-7F0977405ABF}" dt="2026-06-19T05:54:27.466" v="53"/>
          <ac:spMkLst>
            <pc:docMk/>
            <pc:sldMk cId="2506610743" sldId="289"/>
            <ac:spMk id="2" creationId="{CB0171ED-6665-28B2-1F95-D5DB94297A27}"/>
          </ac:spMkLst>
        </pc:spChg>
        <pc:spChg chg="del">
          <ac:chgData name="Aswini Kumar Motapothula" userId="S::aswinikumar@edunetfoundation.org::8849ae8d-bc89-4217-899c-9440ffcae5bb" providerId="AD" clId="Web-{0037A25B-DA5D-A37C-3B36-7F0977405ABF}" dt="2026-06-19T05:54:30.450" v="54"/>
          <ac:spMkLst>
            <pc:docMk/>
            <pc:sldMk cId="2506610743" sldId="289"/>
            <ac:spMk id="3" creationId="{7D69201D-F352-BEC5-9310-979DE8898B63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vscode-webview://1iuu2ga3pvv0u1v5lmo1koo2fpskq2d98vncmffeqru49stiljds/manifest.yml" TargetMode="External"/><Relationship Id="rId3" Type="http://schemas.openxmlformats.org/officeDocument/2006/relationships/hyperlink" Target="vscode-webview://1iuu2ga3pvv0u1v5lmo1koo2fpskq2d98vncmffeqru49stiljds/server.js" TargetMode="External"/><Relationship Id="rId7" Type="http://schemas.openxmlformats.org/officeDocument/2006/relationships/hyperlink" Target="vscode-webview://1iuu2ga3pvv0u1v5lmo1koo2fpskq2d98vncmffeqru49stiljds/package.js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vscode-webview://1iuu2ga3pvv0u1v5lmo1koo2fpskq2d98vncmffeqru49stiljds/index.html" TargetMode="External"/><Relationship Id="rId5" Type="http://schemas.openxmlformats.org/officeDocument/2006/relationships/hyperlink" Target="vscode-webview://1iuu2ga3pvv0u1v5lmo1koo2fpskq2d98vncmffeqru49stiljds/public/index.html" TargetMode="External"/><Relationship Id="rId10" Type="http://schemas.openxmlformats.org/officeDocument/2006/relationships/hyperlink" Target="vscode-webview://1iuu2ga3pvv0u1v5lmo1koo2fpskq2d98vncmffeqru49stiljds/.cfignore" TargetMode="External"/><Relationship Id="rId4" Type="http://schemas.openxmlformats.org/officeDocument/2006/relationships/hyperlink" Target="vscode-webview://1iuu2ga3pvv0u1v5lmo1koo2fpskq2d98vncmffeqru49stiljds/start-server.ps1" TargetMode="External"/><Relationship Id="rId9" Type="http://schemas.openxmlformats.org/officeDocument/2006/relationships/hyperlink" Target="vscode-webview://1iuu2ga3pvv0u1v5lmo1koo2fpskq2d98vncmffeqru49stiljds/Procfil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246534600"/>
              </p:ext>
            </p:extLst>
          </p:nvPr>
        </p:nvGraphicFramePr>
        <p:xfrm>
          <a:off x="1278194" y="2600315"/>
          <a:ext cx="9416052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85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9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1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Dr. S. Ravi Kumar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drravi.saddala@gmail.com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9866920752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000" b="1" dirty="0"/>
              <a:t>Web Application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4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800" b="1" dirty="0" err="1"/>
              <a:t>SecureAI</a:t>
            </a:r>
            <a:r>
              <a:rPr lang="en-IN" sz="2800" b="1" dirty="0"/>
              <a:t> Assessment System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A9EF8-1068-B7D6-725C-77893A7EE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063" y="3578166"/>
            <a:ext cx="823732" cy="10402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AI-Powered Autonomous Web Application Security Assessment Agent</a:t>
            </a:r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r>
              <a:rPr lang="en-IN" dirty="0"/>
              <a:t>The proposed system must address several technical and operational challenges:</a:t>
            </a:r>
          </a:p>
          <a:p>
            <a:r>
              <a:rPr lang="en-IN" b="1" dirty="0"/>
              <a:t>Detecting Diverse Vulnerabilities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Identify common web application vulnerabilities such as SQL Injection, XSS, CSRF, broken authentication, insecure APIs, and security misconfigurations. </a:t>
            </a:r>
          </a:p>
          <a:p>
            <a:r>
              <a:rPr lang="en-IN" b="1" dirty="0"/>
              <a:t>Handling Modern Web Applications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Scan dynamic, JavaScript-based, and Single Page Applications (SPAs) effectively. </a:t>
            </a:r>
          </a:p>
          <a:p>
            <a:r>
              <a:rPr lang="en-IN" b="1" dirty="0"/>
              <a:t>Automated Reporting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Produce detailed security assessment reports with vulnerability descriptions, risk levels, and mitigation steps. </a:t>
            </a:r>
          </a:p>
          <a:p>
            <a:r>
              <a:rPr lang="en-IN" b="1" dirty="0"/>
              <a:t>Scalability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Support scanning multiple web applications while maintaining performance and reliability. </a:t>
            </a:r>
          </a:p>
          <a:p>
            <a:r>
              <a:rPr lang="en-IN" b="1" dirty="0"/>
              <a:t>Security and Privacy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Ensure that scanning activities do not expose sensitive information or negatively impact the target application.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Develop an AI-powered autonomous agent for web application security assessment.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Automatically detect common web application vulnerabilities based on the </a:t>
            </a:r>
            <a:r>
              <a:rPr lang="en-IN" b="1" dirty="0"/>
              <a:t>OWASP Top 10</a:t>
            </a:r>
            <a:r>
              <a:rPr lang="en-IN" dirty="0"/>
              <a:t>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and prioritize identified vulnerabilities using risk scoring techniques.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Provide AI-generated remediation recommendations for developers.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Reduce manual effort and improve the speed of security assessments.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Enhance the overall security posture of web applications through continuous monitoring and automated analysis.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Provide an easy-to-use interface for users to initiate scans, monitor progress, and review results.</a:t>
            </a: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Proposed Solution: </a:t>
            </a:r>
            <a:r>
              <a:rPr lang="en-IN" dirty="0"/>
              <a:t>To address the increasing number of web application security threats, this project proposes the development of an </a:t>
            </a:r>
            <a:r>
              <a:rPr lang="en-IN" b="1" dirty="0"/>
              <a:t>AI-Powered Autonomous Web Application Security Assessment Agent</a:t>
            </a:r>
            <a:r>
              <a:rPr lang="en-IN" dirty="0"/>
              <a:t>. The system will act as an intelligent security assistant that automatically scans web applications, identifies vulnerabilities, evaluates their severity, and provides actionable remediation recommendations with minimal human intervention.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The solution combines </a:t>
            </a:r>
            <a:r>
              <a:rPr lang="en-IN" b="1" dirty="0"/>
              <a:t>Artificial Intelligence (AI)</a:t>
            </a:r>
            <a:r>
              <a:rPr lang="en-IN" dirty="0"/>
              <a:t>, </a:t>
            </a:r>
            <a:r>
              <a:rPr lang="en-IN" b="1" dirty="0"/>
              <a:t>Large Language Models (LLMs)</a:t>
            </a:r>
            <a:r>
              <a:rPr lang="en-IN" dirty="0"/>
              <a:t>, and </a:t>
            </a:r>
            <a:r>
              <a:rPr lang="en-IN" b="1" dirty="0"/>
              <a:t>automated security testing tools</a:t>
            </a:r>
            <a:r>
              <a:rPr lang="en-IN" dirty="0"/>
              <a:t> to perform end-to-end vulnerability assessment. Users simply provide the URL of the target web application through an interactive interface, and the AI agent manages the complete assessment process.</a:t>
            </a:r>
          </a:p>
          <a:p>
            <a:pPr algn="just"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F22AC2-ED34-698A-C97C-6466F4EEC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439810"/>
              </p:ext>
            </p:extLst>
          </p:nvPr>
        </p:nvGraphicFramePr>
        <p:xfrm>
          <a:off x="1317523" y="1297857"/>
          <a:ext cx="2664542" cy="2216287"/>
        </p:xfrm>
        <a:graphic>
          <a:graphicData uri="http://schemas.openxmlformats.org/drawingml/2006/table">
            <a:tbl>
              <a:tblPr firstRow="1" firstCol="1" bandRow="1">
                <a:tableStyleId>{0AAD8F4D-43EB-41E5-8A38-28AB6DFB1B60}</a:tableStyleId>
              </a:tblPr>
              <a:tblGrid>
                <a:gridCol w="1006830">
                  <a:extLst>
                    <a:ext uri="{9D8B030D-6E8A-4147-A177-3AD203B41FA5}">
                      <a16:colId xmlns:a16="http://schemas.microsoft.com/office/drawing/2014/main" val="1445734205"/>
                    </a:ext>
                  </a:extLst>
                </a:gridCol>
                <a:gridCol w="1657712">
                  <a:extLst>
                    <a:ext uri="{9D8B030D-6E8A-4147-A177-3AD203B41FA5}">
                      <a16:colId xmlns:a16="http://schemas.microsoft.com/office/drawing/2014/main" val="77180121"/>
                    </a:ext>
                  </a:extLst>
                </a:gridCol>
              </a:tblGrid>
              <a:tr h="188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>
                          <a:effectLst/>
                          <a:hlinkClick r:id="rId3"/>
                        </a:rPr>
                        <a:t>server.js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9429267"/>
                  </a:ext>
                </a:extLst>
              </a:tr>
              <a:tr h="188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>
                          <a:effectLst/>
                          <a:hlinkClick r:id="rId4"/>
                        </a:rPr>
                        <a:t>start-server.ps1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718627"/>
                  </a:ext>
                </a:extLst>
              </a:tr>
              <a:tr h="3800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>
                          <a:effectLst/>
                          <a:hlinkClick r:id="rId5"/>
                        </a:rPr>
                        <a:t>public/index.html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9993092"/>
                  </a:ext>
                </a:extLst>
              </a:tr>
              <a:tr h="188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>
                          <a:effectLst/>
                          <a:hlinkClick r:id="rId6"/>
                        </a:rPr>
                        <a:t>index.html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0261809"/>
                  </a:ext>
                </a:extLst>
              </a:tr>
              <a:tr h="188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>
                          <a:effectLst/>
                          <a:hlinkClick r:id="rId7"/>
                        </a:rPr>
                        <a:t>package.json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6178817"/>
                  </a:ext>
                </a:extLst>
              </a:tr>
              <a:tr h="188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 dirty="0" err="1">
                          <a:effectLst/>
                          <a:hlinkClick r:id="rId8"/>
                        </a:rPr>
                        <a:t>manifest.yml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22792323"/>
                  </a:ext>
                </a:extLst>
              </a:tr>
              <a:tr h="188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>
                          <a:effectLst/>
                          <a:hlinkClick r:id="rId9"/>
                        </a:rPr>
                        <a:t>Procfile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8330239"/>
                  </a:ext>
                </a:extLst>
              </a:tr>
              <a:tr h="188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u="sng" dirty="0">
                          <a:effectLst/>
                          <a:hlinkClick r:id="rId10"/>
                        </a:rPr>
                        <a:t>.</a:t>
                      </a:r>
                      <a:r>
                        <a:rPr lang="en-IN" sz="1600" u="sng" dirty="0" err="1">
                          <a:effectLst/>
                          <a:hlinkClick r:id="rId10"/>
                        </a:rPr>
                        <a:t>cfignore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246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FA88D-06BD-5592-6BF5-A1979680D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37517"/>
            <a:ext cx="9725380" cy="503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4FBE0-CBB0-9225-D8AF-141F2F1BC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40" y="969205"/>
            <a:ext cx="9615948" cy="4959645"/>
          </a:xfrm>
          <a:prstGeom prst="rect">
            <a:avLst/>
          </a:prstGeom>
        </p:spPr>
      </p:pic>
      <p:sp>
        <p:nvSpPr>
          <p:cNvPr id="4" name="Google Shape;135;p5">
            <a:extLst>
              <a:ext uri="{FF2B5EF4-FFF2-40B4-BE49-F238E27FC236}">
                <a16:creationId xmlns:a16="http://schemas.microsoft.com/office/drawing/2014/main" id="{286A8888-DC0A-20F7-EA9E-6FB24A429BDE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: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616CC-F6C7-C7EA-912E-5A2945628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62" y="800974"/>
            <a:ext cx="9907490" cy="53933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61121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Role of Agentic AI in Nutrition Agent</a:t>
            </a:r>
          </a:p>
          <a:p>
            <a:pPr algn="just"/>
            <a:r>
              <a:rPr lang="en-US" b="1" dirty="0"/>
              <a:t>Agentic AI</a:t>
            </a:r>
            <a:r>
              <a:rPr lang="en-US" dirty="0"/>
              <a:t> enables the Nutrition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deliver personalized nutrition guidance.</a:t>
            </a:r>
          </a:p>
          <a:p>
            <a:pPr algn="just"/>
            <a:r>
              <a:rPr lang="en-US" dirty="0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efficient task execution and accurate results.</a:t>
            </a:r>
          </a:p>
          <a:p>
            <a:pPr algn="just"/>
            <a:r>
              <a:rPr lang="en-US" dirty="0"/>
              <a:t>Agentic AI also brings </a:t>
            </a:r>
            <a:r>
              <a:rPr lang="en-US" b="1" dirty="0"/>
              <a:t>context awareness</a:t>
            </a:r>
            <a:r>
              <a:rPr lang="en-US" dirty="0"/>
              <a:t>, understanding user details like age, health conditions, and fitness goals to generate tailored recommendations. It supports </a:t>
            </a:r>
            <a:r>
              <a:rPr lang="en-US" b="1" dirty="0"/>
              <a:t>real-time adaptation</a:t>
            </a:r>
            <a:r>
              <a:rPr lang="en-US" dirty="0"/>
              <a:t>, continuously updating suggestions based on user inputs like daily meals.</a:t>
            </a:r>
          </a:p>
          <a:p>
            <a:pPr algn="just"/>
            <a:r>
              <a:rPr lang="en-US" dirty="0"/>
              <a:t>Additionally, agents communicate with each other, enabling better decision-making and improved outcomes.</a:t>
            </a:r>
          </a:p>
          <a:p>
            <a:pPr algn="just"/>
            <a:r>
              <a:rPr lang="en-US" dirty="0"/>
              <a:t>Overall, Agentic AI makes the system proactive, personalized, and goal-driven, acting like a </a:t>
            </a:r>
            <a:r>
              <a:rPr lang="en-US" b="1" dirty="0"/>
              <a:t>smart digital nutritionist</a:t>
            </a:r>
            <a:r>
              <a:rPr lang="en-US" dirty="0"/>
              <a:t> that helps users maintain a healthy lifestyle.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F955E-DA57-429A-DD3A-BD4708256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1612490"/>
            <a:ext cx="10101958" cy="458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Input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45801-5387-BD59-4FD1-347E246E9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0" y="2184236"/>
            <a:ext cx="10668000" cy="238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749DF-490B-E9AE-E2F2-EE65515D2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8" y="931767"/>
            <a:ext cx="9901861" cy="449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/>
              <a:t>The proposed Nutrition Agent stands out by combining </a:t>
            </a:r>
            <a:r>
              <a:rPr lang="en-IN" sz="1800" b="1" dirty="0"/>
              <a:t>Agentic AI and personalization</a:t>
            </a:r>
            <a:r>
              <a:rPr lang="en-IN" sz="1800" dirty="0"/>
              <a:t> into a single intelligent system.</a:t>
            </a:r>
          </a:p>
          <a:p>
            <a:pPr algn="just"/>
            <a:endParaRPr lang="en-IN" sz="1800" dirty="0"/>
          </a:p>
          <a:p>
            <a:pPr algn="just"/>
            <a:r>
              <a:rPr lang="en-IN" sz="1800" b="1" dirty="0"/>
              <a:t>Multi-Agent Intelligence</a:t>
            </a:r>
            <a:r>
              <a:rPr lang="en-IN" sz="1800" dirty="0"/>
              <a:t> – Instead of a single chatbot, multiple specialized agents collaborate to deliver accurate and context-aware nutrition guidance. </a:t>
            </a:r>
          </a:p>
          <a:p>
            <a:pPr algn="just"/>
            <a:r>
              <a:rPr lang="en-IN" sz="1800" b="1" dirty="0"/>
              <a:t>RAG-Based Accuracy</a:t>
            </a:r>
            <a:r>
              <a:rPr lang="en-IN" sz="1800" dirty="0"/>
              <a:t> – Integrates real-time data retrieval with AI generation, reducing misinformation and ensuring trustworthy recommendations. </a:t>
            </a:r>
          </a:p>
          <a:p>
            <a:pPr algn="just"/>
            <a:r>
              <a:rPr lang="en-IN" sz="1800" b="1" dirty="0"/>
              <a:t>Hyper-Personalization</a:t>
            </a:r>
            <a:r>
              <a:rPr lang="en-IN" sz="1800" dirty="0"/>
              <a:t> – Tailors diet plans based on health conditions, cultural preferences, and fitness goals. </a:t>
            </a:r>
          </a:p>
          <a:p>
            <a:pPr algn="just"/>
            <a:r>
              <a:rPr lang="en-IN" sz="1800" b="1" dirty="0"/>
              <a:t>Real-Time Feedback Loop</a:t>
            </a:r>
            <a:r>
              <a:rPr lang="en-IN" sz="1800" dirty="0"/>
              <a:t> – Continuously adapts recommendations based on daily food logs and user </a:t>
            </a:r>
            <a:r>
              <a:rPr lang="en-IN" sz="1800" dirty="0" err="1"/>
              <a:t>behavior</a:t>
            </a:r>
            <a:r>
              <a:rPr lang="en-IN" sz="1800" dirty="0"/>
              <a:t>. </a:t>
            </a:r>
          </a:p>
          <a:p>
            <a:pPr algn="just"/>
            <a:r>
              <a:rPr lang="en-IN" sz="1800" b="1" dirty="0"/>
              <a:t>Multi-Modal Input</a:t>
            </a:r>
            <a:r>
              <a:rPr lang="en-IN" sz="1800" dirty="0"/>
              <a:t> – Supports text, voice, and image-based meal tracking for better usability. </a:t>
            </a:r>
          </a:p>
          <a:p>
            <a:pPr algn="just"/>
            <a:r>
              <a:rPr lang="en-IN" sz="1800" b="1" dirty="0"/>
              <a:t>Preventive Healthcare Focus</a:t>
            </a:r>
            <a:r>
              <a:rPr lang="en-IN" sz="1800" dirty="0"/>
              <a:t> – Goes beyond diet planning to provide disease-specific nutrition advice. </a:t>
            </a:r>
          </a:p>
          <a:p>
            <a:pPr algn="just"/>
            <a:r>
              <a:rPr lang="en-IN" sz="1800" b="1" dirty="0"/>
              <a:t>Scalable &amp; Enterprise-Ready</a:t>
            </a:r>
            <a:r>
              <a:rPr lang="en-IN" sz="1800" dirty="0"/>
              <a:t> – Built on </a:t>
            </a:r>
            <a:r>
              <a:rPr lang="en-IN" sz="1800" b="1" dirty="0"/>
              <a:t>IBM watsonx.ai</a:t>
            </a:r>
            <a:r>
              <a:rPr lang="en-IN" sz="1800" dirty="0"/>
              <a:t> with </a:t>
            </a:r>
            <a:r>
              <a:rPr lang="en-IN" sz="1800" b="1" dirty="0"/>
              <a:t>IBM Granite models</a:t>
            </a:r>
            <a:r>
              <a:rPr lang="en-IN" sz="1800" dirty="0"/>
              <a:t>, ensuring reliability and governance. </a:t>
            </a:r>
          </a:p>
          <a:p>
            <a:pPr algn="just"/>
            <a:endParaRPr lang="en-IN" sz="1800" dirty="0"/>
          </a:p>
          <a:p>
            <a:pPr algn="just"/>
            <a:r>
              <a:rPr lang="en-IN" sz="1800" dirty="0"/>
              <a:t>This makes the solution a </a:t>
            </a:r>
            <a:r>
              <a:rPr lang="en-IN" sz="1800" b="1" dirty="0"/>
              <a:t>smart, adaptive, and proactive digital nutritionist</a:t>
            </a:r>
            <a:r>
              <a:rPr lang="en-IN" sz="1800" dirty="0"/>
              <a:t>, not just a static diet recommendation tool.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–https://github.com/drravisaddala/Web-Application-Security-Agent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600" dirty="0"/>
              <a:t>The </a:t>
            </a:r>
            <a:r>
              <a:rPr lang="en-IN" sz="1600" b="1" dirty="0"/>
              <a:t>AI-Powered Autonomous Web Application Security Assessment Agent</a:t>
            </a:r>
            <a:r>
              <a:rPr lang="en-IN" sz="1600" dirty="0"/>
              <a:t> can be extended with advanced capabilities to improve automation, intelligence, and enterprise readiness. Some potential future enhancements include:</a:t>
            </a:r>
          </a:p>
          <a:p>
            <a:r>
              <a:rPr lang="en-IN" sz="1600" b="1" dirty="0"/>
              <a:t>1. Multi-Agent AI Collaboration</a:t>
            </a: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Extend the system from a single AI agent to multiple specialized agents.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Separate agents can handle reconnaissance, vulnerability scanning, risk analysis, remediation, and report generation simultaneously. </a:t>
            </a:r>
          </a:p>
          <a:p>
            <a:r>
              <a:rPr lang="en-IN" sz="1600" b="1" dirty="0"/>
              <a:t>2. Continuous Security Monitoring</a:t>
            </a: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Enable continuous monitoring of web applications instead of one-time scans.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Automatically detect newly introduced vulnerabilities and notify administrators in real time. </a:t>
            </a:r>
          </a:p>
          <a:p>
            <a:r>
              <a:rPr lang="en-IN" sz="1600" b="1" dirty="0"/>
              <a:t>3. Real-Time Threat Intelligence Integration</a:t>
            </a: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Integrate external threat intelligence feeds.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Correlate detected vulnerabilities with the latest known threats and attack campaigns. </a:t>
            </a:r>
          </a:p>
          <a:p>
            <a:r>
              <a:rPr lang="en-IN" sz="1600" b="1" dirty="0"/>
              <a:t>4. Automatic Patch Recommendations</a:t>
            </a: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Recommend software updates, security patches, and configuration changes based on detected vulnerabilities.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Prioritize fixes according to risk and exploitability. </a:t>
            </a:r>
          </a:p>
          <a:p>
            <a:r>
              <a:rPr lang="en-IN" sz="1600" b="1" dirty="0"/>
              <a:t>5. Mobile Application Security</a:t>
            </a: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Extend scanning capabilities to Android and iOS applications.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Detect mobile-specific security vulnerabilities and insecure API usage. </a:t>
            </a:r>
          </a:p>
          <a:p>
            <a:pPr lvl="0"/>
            <a:endParaRPr lang="en-IN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D912D7-74BD-6888-7CE0-4C30A4FA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48" y="1311125"/>
            <a:ext cx="7141410" cy="533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F7278D-BA09-72A9-6B03-713FC9CD1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1" y="1255487"/>
            <a:ext cx="8908026" cy="54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760" y="2359742"/>
            <a:ext cx="10166555" cy="1494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1069</Words>
  <Application>Microsoft Office PowerPoint</Application>
  <PresentationFormat>Widescreen</PresentationFormat>
  <Paragraphs>132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 Ravi Kumar</cp:lastModifiedBy>
  <cp:revision>20</cp:revision>
  <dcterms:created xsi:type="dcterms:W3CDTF">2025-07-08T05:06:56Z</dcterms:created>
  <dcterms:modified xsi:type="dcterms:W3CDTF">2026-06-27T16:39:39Z</dcterms:modified>
</cp:coreProperties>
</file>